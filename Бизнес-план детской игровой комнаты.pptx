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3" r:id="rId1"/>
  </p:sldMasterIdLst>
  <p:sldIdLst>
    <p:sldId id="256" r:id="rId2"/>
    <p:sldId id="257" r:id="rId3"/>
    <p:sldId id="258" r:id="rId4"/>
    <p:sldId id="263" r:id="rId5"/>
    <p:sldId id="264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Целевая аудитория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85000"/>
                      <a:shade val="98000"/>
                      <a:satMod val="110000"/>
                      <a:lumMod val="103000"/>
                    </a:schemeClr>
                  </a:gs>
                  <a:gs pos="50000">
                    <a:schemeClr val="accent1">
                      <a:shade val="85000"/>
                      <a:satMod val="105000"/>
                      <a:lumMod val="100000"/>
                    </a:schemeClr>
                  </a:gs>
                  <a:gs pos="100000">
                    <a:schemeClr val="accent1">
                      <a:shade val="60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88900" dist="2794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E18-4EA0-8BD1-0392E442A3E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85000"/>
                      <a:shade val="98000"/>
                      <a:satMod val="110000"/>
                      <a:lumMod val="103000"/>
                    </a:schemeClr>
                  </a:gs>
                  <a:gs pos="50000">
                    <a:schemeClr val="accent2">
                      <a:shade val="85000"/>
                      <a:satMod val="105000"/>
                      <a:lumMod val="100000"/>
                    </a:schemeClr>
                  </a:gs>
                  <a:gs pos="100000">
                    <a:schemeClr val="accent2">
                      <a:shade val="60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88900" dist="2794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E18-4EA0-8BD1-0392E442A3E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85000"/>
                      <a:shade val="98000"/>
                      <a:satMod val="110000"/>
                      <a:lumMod val="103000"/>
                    </a:schemeClr>
                  </a:gs>
                  <a:gs pos="50000">
                    <a:schemeClr val="accent3">
                      <a:shade val="85000"/>
                      <a:satMod val="105000"/>
                      <a:lumMod val="100000"/>
                    </a:schemeClr>
                  </a:gs>
                  <a:gs pos="100000">
                    <a:schemeClr val="accent3">
                      <a:shade val="60000"/>
                      <a:satMod val="120000"/>
                      <a:lumMod val="100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88900" dist="2794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9E18-4EA0-8BD1-0392E442A3E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Лист1!$A$2:$A$4</c:f>
              <c:strCache>
                <c:ptCount val="3"/>
                <c:pt idx="0">
                  <c:v>Родители с детьми от 1 года до 10 лет</c:v>
                </c:pt>
                <c:pt idx="1">
                  <c:v>Организаторы детских мероприятий</c:v>
                </c:pt>
                <c:pt idx="2">
                  <c:v>Корпоративные клиенты</c:v>
                </c:pt>
              </c:strCache>
            </c:strRef>
          </c:cat>
          <c:val>
            <c:numRef>
              <c:f>Лист1!$B$2:$B$4</c:f>
              <c:numCache>
                <c:formatCode>0%</c:formatCode>
                <c:ptCount val="3"/>
                <c:pt idx="0">
                  <c:v>0.65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611-434F-BCFC-0304CC196662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2440" y="2194560"/>
            <a:ext cx="11247120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915938"/>
            <a:ext cx="11506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737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47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-6843" y="3887812"/>
            <a:ext cx="12195668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5488" y="2194560"/>
            <a:ext cx="11247120" cy="173736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472" y="3911827"/>
            <a:ext cx="11503152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63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800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533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3601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6036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90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6676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173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8843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EBCD8839-0025-4B7F-BA92-A648C2CA97CB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5F8F3B60-45AC-4B41-B2AB-186DDBC4D7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871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3E46A4-F807-78C3-8672-48833FA06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461" y="2284245"/>
            <a:ext cx="7735077" cy="1457175"/>
          </a:xfrm>
        </p:spPr>
        <p:txBody>
          <a:bodyPr>
            <a:normAutofit fontScale="90000"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Бизнес-план </a:t>
            </a:r>
            <a:b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детской игровой комнаты с развивающими и развлекательными зонами «Весёлый островок»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62DA84-577E-E190-B484-06B1002E0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23592" y="5598789"/>
            <a:ext cx="9144000" cy="1175235"/>
          </a:xfrm>
        </p:spPr>
        <p:txBody>
          <a:bodyPr/>
          <a:lstStyle/>
          <a:p>
            <a:pPr algn="r"/>
            <a:r>
              <a:rPr lang="ru-R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 группы 4.2 ИСиП-3</a:t>
            </a:r>
            <a:br>
              <a:rPr lang="ru-R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Слизов Д.В.</a:t>
            </a:r>
            <a:br>
              <a:rPr lang="ru-R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 Дудина И.А.</a:t>
            </a:r>
          </a:p>
          <a:p>
            <a:pPr algn="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69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B98E2-DC4D-FA08-F6AC-1B71898DA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6184"/>
            <a:ext cx="12191999" cy="1508760"/>
          </a:xfrm>
        </p:spPr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суть и зачем</a:t>
            </a:r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это нужно Борисоглебску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B057E2-2333-5C36-533B-8FD4A54A2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28" y="2047640"/>
            <a:ext cx="8398592" cy="420624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Цель проекта: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создание комфортного, безопасного и развивающего пространства для детей возрастом от 1 года до 10 лет с возможностью кратковременного присмотра нянями-воспитателями.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algn="l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города:</a:t>
            </a:r>
            <a:r>
              <a:rPr lang="ru-RU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Борисоглебске мало мест, где можно безопасно оставить ребёнка поиграть.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Есть игровые зоны, но они либо дорогие, либо просто «занять»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ребёнка 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без пользы для развития.</a:t>
            </a:r>
            <a:r>
              <a:rPr lang="en-US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Родители иногда не знают, куда сводить ребёнка в выходные.</a:t>
            </a:r>
          </a:p>
          <a:p>
            <a:pPr marL="0" indent="0" algn="l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5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Устранение проблемы: </a:t>
            </a:r>
            <a:r>
              <a:rPr lang="ru-RU" sz="15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д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ля этого случая будет разработана детская игровая комната «Весёлый островок», которая представляет собой: пространство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для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досуга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детей,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где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родители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могут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оставить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ребёнка под присмотром, а также провести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праздничные</a:t>
            </a:r>
            <a:r>
              <a:rPr lang="en-US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мероприятия. </a:t>
            </a:r>
          </a:p>
          <a:p>
            <a:pPr marL="0" indent="0" algn="l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5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Местоположение: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г. Борисоглебск, Воронежская обл., ул. Советская д. 80, ТЦ «Первый»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5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Предполагаемый срок окупаемости: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14-16 месяцев.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ru-RU" sz="15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Средняя планируемая месячная выручка: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около 350 000 руб.</a:t>
            </a:r>
          </a:p>
          <a:p>
            <a:pPr marL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Средняя чистая ежемесячная прибыль:</a:t>
            </a:r>
            <a:r>
              <a:rPr lang="ru-RU" sz="15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80 000-100 000 руб.</a:t>
            </a:r>
          </a:p>
          <a:p>
            <a:pPr marL="0" indent="0" algn="l">
              <a:buNone/>
            </a:pPr>
            <a:endParaRPr lang="ru-RU" sz="15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pic>
        <p:nvPicPr>
          <p:cNvPr id="1026" name="Picture 2" descr="Фотография">
            <a:extLst>
              <a:ext uri="{FF2B5EF4-FFF2-40B4-BE49-F238E27FC236}">
                <a16:creationId xmlns:a16="http://schemas.microsoft.com/office/drawing/2014/main" id="{25F5CB59-0BF9-03EC-DEEF-1DA17C0F1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2420" y="4175667"/>
            <a:ext cx="4048629" cy="255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6440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C6722A-4B65-2170-CC36-5E2BA68ED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19" y="316211"/>
            <a:ext cx="8290561" cy="1508760"/>
          </a:xfrm>
        </p:spPr>
        <p:txBody>
          <a:bodyPr/>
          <a:lstStyle/>
          <a:p>
            <a:pPr algn="ctr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Как будет выглядеть «Весёлый островок»?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50F29F0-3C81-F1D2-AB2D-8892A8DFB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366" y="1919604"/>
            <a:ext cx="6641019" cy="4206240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ru-RU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Помещение:</a:t>
            </a: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</a:t>
            </a:r>
          </a:p>
          <a:p>
            <a:pPr marL="0" indent="0" fontAlgn="base"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Общая площадь - от 90-120 м², включающая игровую зону, территорию шкафчиков для одежды и для обуви, проведения мероприятий, санузел и приёмную администратора.</a:t>
            </a:r>
          </a:p>
          <a:p>
            <a:pPr marL="0" indent="0" fontAlgn="base">
              <a:buNone/>
            </a:pPr>
            <a:r>
              <a:rPr lang="ru-RU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Технические требования:</a:t>
            </a:r>
            <a:endParaRPr lang="ru-RU" sz="1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fontAlgn="base"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Наличие естественного освещения.</a:t>
            </a:r>
            <a:endParaRPr lang="ru-RU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spcBef>
                <a:spcPts val="120"/>
              </a:spcBef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Соответствие санитарным нормам для детских учреждений - СанПиН 2.4.1.3049‑13.</a:t>
            </a:r>
            <a:endParaRPr lang="ru-RU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spcBef>
                <a:spcPts val="120"/>
              </a:spcBef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Качественная вентиляционная система.</a:t>
            </a:r>
            <a:endParaRPr lang="ru-RU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buNone/>
            </a:pPr>
            <a:r>
              <a:rPr lang="ru-RU" sz="14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Необходимое оборудование и инвентарь:</a:t>
            </a:r>
            <a:endParaRPr lang="ru-RU" sz="14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fontAlgn="base"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Игровые конструкции (горки, бассейны с шариками, мягкие модули) - 400 000 руб.</a:t>
            </a:r>
            <a:endParaRPr lang="ru-RU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spcBef>
                <a:spcPts val="120"/>
              </a:spcBef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Мебель (столы, стулья, шкафчики) - 150 000 руб.</a:t>
            </a:r>
            <a:endParaRPr lang="ru-RU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spcBef>
                <a:spcPts val="120"/>
              </a:spcBef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Художественные принадлежности (кисти, краски, непроливайки, мелки, карандаши, ластики, фломастеры, пластилин, клей, ножницы, бумага, картон) - 30 000 руб.</a:t>
            </a:r>
            <a:endParaRPr lang="ru-RU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spcBef>
                <a:spcPts val="120"/>
              </a:spcBef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Осветительные приборы и декорации - 50 000 руб.</a:t>
            </a:r>
            <a:endParaRPr lang="ru-RU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spcBef>
                <a:spcPts val="120"/>
              </a:spcBef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Компьютерное оборудование и кассовый аппарат - 40 000 руб.</a:t>
            </a:r>
            <a:endParaRPr lang="ru-RU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fontAlgn="base">
              <a:spcBef>
                <a:spcPts val="120"/>
              </a:spcBef>
              <a:buNone/>
            </a:pPr>
            <a:r>
              <a:rPr lang="ru-RU"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Средства гигиены и уборки - 20 000 руб.</a:t>
            </a:r>
            <a:endParaRPr lang="ru-RU" sz="1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14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E7A70D4-DF9C-A064-B117-3022D23A29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6640" y="2031449"/>
            <a:ext cx="4073488" cy="41819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36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F55CB-0155-3A4F-5943-C67CA72FA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аудитория и конкурентные преимущества</a:t>
            </a:r>
            <a:endParaRPr lang="ru-RU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4478F146-A346-E10F-77D5-AA2D7053D4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3732641"/>
              </p:ext>
            </p:extLst>
          </p:nvPr>
        </p:nvGraphicFramePr>
        <p:xfrm>
          <a:off x="0" y="1792936"/>
          <a:ext cx="4511040" cy="4780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Таблица 11">
            <a:extLst>
              <a:ext uri="{FF2B5EF4-FFF2-40B4-BE49-F238E27FC236}">
                <a16:creationId xmlns:a16="http://schemas.microsoft.com/office/drawing/2014/main" id="{1015261B-5270-ED13-418E-0B77E663AA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00149"/>
              </p:ext>
            </p:extLst>
          </p:nvPr>
        </p:nvGraphicFramePr>
        <p:xfrm>
          <a:off x="4511040" y="2616038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49511744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663537173"/>
                    </a:ext>
                  </a:extLst>
                </a:gridCol>
              </a:tblGrid>
              <a:tr h="350097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Конкуренты и их особенности</a:t>
                      </a:r>
                      <a:endParaRPr lang="ru-RU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Преимущества перед конкурентами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682107"/>
                  </a:ext>
                </a:extLst>
              </a:tr>
              <a:tr h="1050291"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Крупные детские центры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ш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ирокий ассортимент услуг, но высокая стоимость посещения</a:t>
                      </a:r>
                    </a:p>
                    <a:p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Небольшие игровые площадки в торговых центрах -невысокая цена, но ограниченное количество игровых и отсутствие развивающих зон</a:t>
                      </a:r>
                    </a:p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Частные няни - л</a:t>
                      </a:r>
                      <a:r>
                        <a:rPr lang="ru-RU" sz="16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ичностный подход, но отсутствуют возможности полноценного игрового взаимодействия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Доступные цены на любой достаток</a:t>
                      </a:r>
                    </a:p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Разнообразие зон, развивающие программы</a:t>
                      </a:r>
                    </a:p>
                    <a:p>
                      <a:endParaRPr lang="ru-RU" sz="16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-Комплексное развитие и безопасность детей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56899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9B6A27E-6024-382F-7B7B-2A46B3D1F620}"/>
              </a:ext>
            </a:extLst>
          </p:cNvPr>
          <p:cNvSpPr txBox="1"/>
          <p:nvPr/>
        </p:nvSpPr>
        <p:spPr>
          <a:xfrm>
            <a:off x="6512560" y="1880500"/>
            <a:ext cx="400304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Конкуренты </a:t>
            </a:r>
            <a:r>
              <a:rPr lang="en-US" sz="2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ru-RU" sz="21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</a:t>
            </a:r>
            <a:endParaRPr lang="ru-RU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5885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E36B7F-E858-14D3-A8E9-BDE9490AF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ФИНАНСОВЫЙ ПЛАН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B90106A-0975-CA04-7E57-CD6A6649A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76200" y="1926714"/>
            <a:ext cx="6492240" cy="4488180"/>
          </a:xfrm>
        </p:spPr>
        <p:txBody>
          <a:bodyPr>
            <a:noAutofit/>
          </a:bodyPr>
          <a:lstStyle/>
          <a:p>
            <a:pPr marL="0" indent="0" algn="ctr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Начальные расходы:</a:t>
            </a:r>
            <a:endParaRPr lang="ru-RU" sz="16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Покупка оборудования и материалов - 690 000 руб.</a:t>
            </a:r>
          </a:p>
          <a:p>
            <a:pPr marL="0" indent="0" algn="ctr" fontAlgn="base">
              <a:spcBef>
                <a:spcPts val="120"/>
              </a:spcBef>
              <a:spcAft>
                <a:spcPts val="0"/>
              </a:spcAft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Ремонт и оснащение интерьера - 200 000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Расходы на регистрацию предприятия и лицензирование - 30 000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Первоначальные вложения в рекламу - 80 000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Образование резервного фонда - 100 000 руб.</a:t>
            </a:r>
            <a:endParaRPr lang="ru-RU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Стоимость начальных вложений</a:t>
            </a:r>
            <a:r>
              <a:rPr lang="ru-RU" sz="16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1 200 000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endParaRPr lang="ru-RU" sz="16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Расчет ежемесячных расходов:</a:t>
            </a:r>
            <a:endParaRPr lang="ru-RU" sz="16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Арендная плата - 80 000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Зарплаты сотрудникам (4 сотрудника) - 160 000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Налоги и обязательные отчисления - 40 000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Материалы и расходные товары - 20 000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Рекламные мероприятия - 15 000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Оплата коммунальных услуг - 10 000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Обновление резервного фонда - 15 000 руб.</a:t>
            </a:r>
            <a:endParaRPr lang="ru-RU" sz="16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Общий объем затрат ежемесячно:</a:t>
            </a: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340 000 руб.</a:t>
            </a:r>
          </a:p>
          <a:p>
            <a:pPr algn="ctr" fontAlgn="base"/>
            <a:endParaRPr lang="ru-RU" sz="16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7340CE-384E-0882-1284-2DEEB2896523}"/>
              </a:ext>
            </a:extLst>
          </p:cNvPr>
          <p:cNvSpPr txBox="1"/>
          <p:nvPr/>
        </p:nvSpPr>
        <p:spPr>
          <a:xfrm>
            <a:off x="6667499" y="2615250"/>
            <a:ext cx="5401539" cy="3111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fontAlgn="base"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Прогноз дохода на первые полгода (примерный расчет):</a:t>
            </a:r>
            <a:endParaRPr lang="ru-RU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algn="ctr" fontAlgn="base"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Количество ежедневных посетителей - 15-20 человек.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Средний чек на одно посещение - 400 руб.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Доход от аренды зала для проведения праздников - дополнительно 40 000 руб. в месяц.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Общий доход в месяц - 320 000-380 000 руб.</a:t>
            </a:r>
          </a:p>
          <a:p>
            <a:pPr marL="0" indent="0" algn="ctr" fontAlgn="base">
              <a:spcBef>
                <a:spcPts val="120"/>
              </a:spcBef>
              <a:buNone/>
            </a:pP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Итоговая прибыль:</a:t>
            </a:r>
            <a:endParaRPr lang="ru-RU" sz="1600" dirty="0">
              <a:effectLst/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pPr marL="0" indent="0" algn="ctr" fontAlgn="base"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Валовая прибыль составит 120 000-160 000 руб.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spcBef>
                <a:spcPts val="120"/>
              </a:spcBef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Чистая прибыль после уплаты всех обязательных налоговых взносов - порядка 80 000-100 000 руб.</a:t>
            </a:r>
            <a:endParaRPr lang="ru-RU" sz="16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0" indent="0" algn="ctr" fontAlgn="base"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Безубыточный уровень доходов:</a:t>
            </a:r>
            <a:r>
              <a:rPr lang="ru-RU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240 000 руб. в месяц.</a:t>
            </a:r>
          </a:p>
        </p:txBody>
      </p:sp>
    </p:spTree>
    <p:extLst>
      <p:ext uri="{BB962C8B-B14F-4D97-AF65-F5344CB8AC3E}">
        <p14:creationId xmlns:p14="http://schemas.microsoft.com/office/powerpoint/2010/main" val="2481503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53EA5-81B1-6D37-7B05-16EDA8BC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Риски и их устранение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5029CF-7ED9-C8F8-C68F-AA468E8EE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539" y="2115895"/>
            <a:ext cx="6936921" cy="44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54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836CC6-2EA4-A3A5-7040-ADCAAE9A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919E0D5D-E44B-17A9-0B72-41679B1ED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158" y="2230793"/>
            <a:ext cx="8853122" cy="266948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Создание игровой комнаты «Весёлый островок» в городе Борисоглебск позволит эффективно удовлетворять потребность молодых семей в безопасной среде для досуга детей, предлагая высококачественный продукт по разумной цене. Благодаря грамотно выстроенной организационной структуре, эффективному управлению рисками и правильной ценовой политике проект способен достичь финансовой устойчивости и выйти на стабильную прибыль уже спустя </a:t>
            </a:r>
            <a:r>
              <a:rPr lang="ru-RU" sz="2000" dirty="0">
                <a:latin typeface="Times New Roman" panose="02020603050405020304" pitchFamily="18" charset="0"/>
                <a:ea typeface="SimSun" panose="02010600030101010101" pitchFamily="2" charset="-122"/>
              </a:rPr>
              <a:t>через </a:t>
            </a:r>
            <a:r>
              <a:rPr lang="ru-RU" sz="20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14-16 месяцев после своего функционирования.</a:t>
            </a:r>
          </a:p>
          <a:p>
            <a:pPr algn="ctr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243413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каймление">
  <a:themeElements>
    <a:clrScheme name="Окаймление">
      <a:dk1>
        <a:srgbClr val="2C2C2C"/>
      </a:dk1>
      <a:lt1>
        <a:srgbClr val="FFFFFF"/>
      </a:lt1>
      <a:dk2>
        <a:srgbClr val="606060"/>
      </a:dk2>
      <a:lt2>
        <a:srgbClr val="EDEDED"/>
      </a:lt2>
      <a:accent1>
        <a:srgbClr val="FFC000"/>
      </a:accent1>
      <a:accent2>
        <a:srgbClr val="A5D028"/>
      </a:accent2>
      <a:accent3>
        <a:srgbClr val="0CC978"/>
      </a:accent3>
      <a:accent4>
        <a:srgbClr val="099BDD"/>
      </a:accent4>
      <a:accent5>
        <a:srgbClr val="47BFCD"/>
      </a:accent5>
      <a:accent6>
        <a:srgbClr val="DD7C15"/>
      </a:accent6>
      <a:hlink>
        <a:srgbClr val="FF9933"/>
      </a:hlink>
      <a:folHlink>
        <a:srgbClr val="B2B2B2"/>
      </a:folHlink>
    </a:clrScheme>
    <a:fontScheme name="Окаймление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Окаймлени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B1D2DA32-AC8B-4194-BF85-FF4A5B40EB5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Окаймление</Template>
  <TotalTime>535</TotalTime>
  <Words>715</Words>
  <Application>Microsoft Office PowerPoint</Application>
  <PresentationFormat>Широкоэкранный</PresentationFormat>
  <Paragraphs>72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Calibri</vt:lpstr>
      <vt:lpstr>Corbel</vt:lpstr>
      <vt:lpstr>Times New Roman</vt:lpstr>
      <vt:lpstr>Wingdings</vt:lpstr>
      <vt:lpstr>Окаймление</vt:lpstr>
      <vt:lpstr>Бизнес-план  детской игровой комнаты с развивающими и развлекательными зонами «Весёлый островок»</vt:lpstr>
      <vt:lpstr>Основная суть и зачем это нужно Борисоглебску</vt:lpstr>
      <vt:lpstr>Как будет выглядеть «Весёлый островок»?</vt:lpstr>
      <vt:lpstr>Целевая аудитория и конкурентные преимущества</vt:lpstr>
      <vt:lpstr>ФИНАНСОВЫЙ ПЛАН</vt:lpstr>
      <vt:lpstr>Риски и их устранение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Бизнес план детской игровой комнаты с развивающими и развлекательными зонами «Весёлый островок»</dc:title>
  <dc:creator>Слизов Д.В.</dc:creator>
  <cp:lastModifiedBy>Слизов Д.В.</cp:lastModifiedBy>
  <cp:revision>12</cp:revision>
  <dcterms:created xsi:type="dcterms:W3CDTF">2025-12-15T15:03:43Z</dcterms:created>
  <dcterms:modified xsi:type="dcterms:W3CDTF">2025-12-16T18:29:09Z</dcterms:modified>
</cp:coreProperties>
</file>